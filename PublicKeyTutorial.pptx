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0" r:id="rId3"/>
    <p:sldId id="279" r:id="rId4"/>
    <p:sldId id="261" r:id="rId5"/>
    <p:sldId id="263" r:id="rId6"/>
    <p:sldId id="278" r:id="rId7"/>
    <p:sldId id="265" r:id="rId8"/>
    <p:sldId id="266" r:id="rId9"/>
    <p:sldId id="264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83" r:id="rId18"/>
    <p:sldId id="282" r:id="rId19"/>
    <p:sldId id="284" r:id="rId20"/>
    <p:sldId id="285" r:id="rId21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0047" autoAdjust="0"/>
  </p:normalViewPr>
  <p:slideViewPr>
    <p:cSldViewPr>
      <p:cViewPr varScale="1">
        <p:scale>
          <a:sx n="46" d="100"/>
          <a:sy n="46" d="100"/>
        </p:scale>
        <p:origin x="1860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306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138D7109-3853-4DA2-A515-1E6A3BE4B86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F7A390F-806C-485F-967B-27F7E635D4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4902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EB4C5212-9EDE-44A5-BE5F-69F5712A3B49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61C73B9F-D19A-4375-9EAC-373727240D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591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6513" cy="3836988"/>
          </a:xfrm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518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6513" cy="3836988"/>
          </a:xfrm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7624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6513" cy="3836988"/>
          </a:xfrm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GB" dirty="0"/>
              <a:t>This is the exercise set up – show it while students complete the exercise</a:t>
            </a:r>
          </a:p>
        </p:txBody>
      </p:sp>
    </p:spTree>
    <p:extLst>
      <p:ext uri="{BB962C8B-B14F-4D97-AF65-F5344CB8AC3E}">
        <p14:creationId xmlns:p14="http://schemas.microsoft.com/office/powerpoint/2010/main" val="821293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6513" cy="3836988"/>
          </a:xfrm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is an exercise solution – show it after the exercise is complete.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3270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6513" cy="3836988"/>
          </a:xfrm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is the exercise set up – show it while students complete the exercise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5789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6513" cy="3836988"/>
          </a:xfrm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is an exercise solution – show it after the exercise is complete.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256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6513" cy="3836988"/>
          </a:xfrm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is the exercise set up – show it while students complete the exercise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0003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6513" cy="3836988"/>
          </a:xfrm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is an exercise solution – show it after the exercise is complete.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1035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6513" cy="3836988"/>
          </a:xfrm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0393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6513" cy="3836988"/>
          </a:xfrm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is an explanatory slide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93477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6513" cy="3836988"/>
          </a:xfrm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is the exercise set up – show it while students complete the exercise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0423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an exercise solution – show it after the exercise is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C73B9F-D19A-4375-9EAC-373727240DF6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2360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6513" cy="3836988"/>
          </a:xfrm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GB" dirty="0"/>
              <a:t>This is an optional part I removed – demonstrating a “message digest” for a real signing process</a:t>
            </a:r>
          </a:p>
        </p:txBody>
      </p:sp>
    </p:spTree>
    <p:extLst>
      <p:ext uri="{BB962C8B-B14F-4D97-AF65-F5344CB8AC3E}">
        <p14:creationId xmlns:p14="http://schemas.microsoft.com/office/powerpoint/2010/main" val="7409979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6513" cy="3836988"/>
          </a:xfrm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GB" dirty="0"/>
              <a:t>This is an optional part I removed – demonstrating a “message digest” for a real signing process</a:t>
            </a:r>
          </a:p>
        </p:txBody>
      </p:sp>
    </p:spTree>
    <p:extLst>
      <p:ext uri="{BB962C8B-B14F-4D97-AF65-F5344CB8AC3E}">
        <p14:creationId xmlns:p14="http://schemas.microsoft.com/office/powerpoint/2010/main" val="125870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70E1-FB7C-4024-A851-B3364751A129}" type="datetime1">
              <a:rPr lang="en-GB" smtClean="0"/>
              <a:pPr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74A79-E8F0-4D51-AEEA-41152AC2845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3620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41F9-5623-40BE-BBE6-EF18DF3470EE}" type="datetime1">
              <a:rPr lang="en-GB" smtClean="0"/>
              <a:pPr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74A79-E8F0-4D51-AEEA-41152AC2845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922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889C6-5385-41BA-BCE2-D3C2F604E673}" type="datetime1">
              <a:rPr lang="en-GB" smtClean="0"/>
              <a:pPr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74A79-E8F0-4D51-AEEA-41152AC2845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9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B6DA2-BDDC-4F72-84D3-05B321671D10}" type="datetime1">
              <a:rPr lang="en-GB" smtClean="0"/>
              <a:pPr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74A79-E8F0-4D51-AEEA-41152AC2845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80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41C02-60F0-4483-9B51-56408EB1EFB4}" type="datetime1">
              <a:rPr lang="en-GB" smtClean="0"/>
              <a:pPr/>
              <a:t>16/02/2026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74A79-E8F0-4D51-AEEA-41152AC2845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759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4D0-5C1B-495B-A311-EFC28A229CD5}" type="datetime1">
              <a:rPr lang="en-GB" smtClean="0"/>
              <a:pPr/>
              <a:t>16/02/2026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74A79-E8F0-4D51-AEEA-41152AC2845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260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DF15-2164-444B-8CEC-331EF3E1FFED}" type="datetime1">
              <a:rPr lang="en-GB" smtClean="0"/>
              <a:pPr/>
              <a:t>16/02/2026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74A79-E8F0-4D51-AEEA-41152AC2845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346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E41F-7940-4431-BB48-DAF434C0D567}" type="datetime1">
              <a:rPr lang="en-GB" smtClean="0"/>
              <a:pPr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74A79-E8F0-4D51-AEEA-41152AC2845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90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A446F-3DC2-45F2-87B7-158FD09EECAD}" type="datetime1">
              <a:rPr lang="en-GB" smtClean="0"/>
              <a:pPr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74A79-E8F0-4D51-AEEA-41152AC2845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95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BEF1-9EED-4A87-833C-7C77FF8782BA}" type="datetime1">
              <a:rPr lang="en-GB" smtClean="0"/>
              <a:pPr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74A79-E8F0-4D51-AEEA-41152AC2845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848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CFDA0-417C-48A2-B969-D7FCEEB4C35F}" type="datetime1">
              <a:rPr lang="en-GB" smtClean="0"/>
              <a:pPr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74A79-E8F0-4D51-AEEA-41152AC2845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27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87C1D-DDE3-4B96-8AF6-D2033B54177D}" type="datetime1">
              <a:rPr lang="en-GB" smtClean="0"/>
              <a:pPr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4A79-E8F0-4D51-AEEA-41152AC2845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850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Public/Private Key Cryptography</a:t>
            </a:r>
            <a:br>
              <a:rPr lang="en-GB" sz="3600" dirty="0"/>
            </a:br>
            <a:r>
              <a:rPr lang="en-GB" sz="3600" dirty="0"/>
              <a:t>Tutorial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Richard Clegg</a:t>
            </a:r>
          </a:p>
        </p:txBody>
      </p:sp>
    </p:spTree>
    <p:extLst>
      <p:ext uri="{BB962C8B-B14F-4D97-AF65-F5344CB8AC3E}">
        <p14:creationId xmlns:p14="http://schemas.microsoft.com/office/powerpoint/2010/main" val="962779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Different cryptography techniques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74A79-E8F0-4D51-AEEA-41152AC28452}" type="slidenum">
              <a:rPr lang="en-GB" smtClean="0"/>
              <a:pPr/>
              <a:t>2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2492896"/>
            <a:ext cx="1952625" cy="2343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2877" y="4725144"/>
            <a:ext cx="22309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Certification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24128" y="1768743"/>
            <a:ext cx="2508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Digital 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362" y="2992153"/>
            <a:ext cx="19850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Encryption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9158" y="1492063"/>
            <a:ext cx="4089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Symmetric/Asymmetric</a:t>
            </a:r>
          </a:p>
        </p:txBody>
      </p:sp>
    </p:spTree>
    <p:extLst>
      <p:ext uri="{BB962C8B-B14F-4D97-AF65-F5344CB8AC3E}">
        <p14:creationId xmlns:p14="http://schemas.microsoft.com/office/powerpoint/2010/main" val="226837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5" presetClass="exit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26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C 0.012 -0.018 0.033 -0.044 0.058 -0.044 C 0.095 -0.044 0.125 -0.017 0.125 0.017 C 0.125 0.028 0.122 0.038 0.116 0.047 C 0.117 0.047 0 0.182 0 0.183 C 0 0.182 -0.117 0.047 -0.116 0.047 C -0.122 0.038 -0.125 0.028 -0.125 0.017 C -0.125 -0.017 -0.095 -0.044 -0.057 -0.044 C -0.033 -0.044 -0.012 -0.018 0 0 Z" pathEditMode="relative" ptsTypes="">
                                      <p:cBhvr>
                                        <p:cTn id="31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23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C 0.072 0.058 0.1 0.152 0.077 0.238 C -0.015 0.233 -0.093 0.173 -0.125 0.091 C -0.047 0.04 0.051 0.043 0.125 0.091 C 0.092 0.178 0.011 0.233 -0.077 0.238 C -0.101 0.148 -0.068 0.056 0 0 Z" pathEditMode="relative" ptsTypes="">
                                      <p:cBhvr>
                                        <p:cTn id="33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29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C 0.007 -0.01 0.014 -0.021 0.021 -0.035 C 0.04 -0.075 0.045 -0.114 0.031 -0.12 C 0.017 -0.127 -0.01 -0.099 -0.029 -0.059 C -0.039 -0.038 -0.045 -0.018 -0.047 -0.003 C -0.05 0.009 -0.051 0.021 -0.051 0.035 C -0.051 0.08 -0.038 0.117 -0.023 0.117 C -0.008 0.117 0.005 0.08 0.005 0.035 C 0.005 0.014 0.002 -0.006 -0.003 -0.02 C -0.005 -0.032 -0.01 -0.045 -0.016 -0.058 C -0.036 -0.099 -0.063 -0.127 -0.077 -0.12 C -0.091 -0.113 -0.086 -0.075 -0.066 -0.034 C -0.058 -0.015 -0.047 0.001 -0.036 0.012 C -0.028 0.022 -0.019 0.031 -0.007 0.04 C 0.029 0.069 0.065 0.082 0.075 0.07 C 0.084 0.058 0.064 0.025 0.028 -0.003 C 0.013 -0.015 -0.003 -0.024 -0.016 -0.03 C -0.028 -0.036 -0.043 -0.041 -0.059 -0.044 C -0.103 -0.054 -0.141 -0.051 -0.144 -0.035 C -0.148 -0.02 -0.115 0 -0.071 0.01 C -0.051 0.014 -0.032 0.016 -0.017 0.015 C -0.004 0.015 0.01 0.013 0.025 0.01 C 0.069 0 0.102 -0.021 0.098 -0.036 C 0.095 -0.051 0.057 -0.055 0.013 -0.045 C -0.008 -0.04 -0.027 -0.033 -0.04 -0.025 C -0.051 -0.019 -0.062 -0.012 -0.074 -0.003 C -0.109 0.026 -0.13 0.058 -0.12 0.07 C -0.111 0.082 -0.074 0.069 -0.039 0.041 C -0.022 0.027 -0.008 0.013 0 0 Z" pathEditMode="relative" ptsTypes="">
                                      <p:cBhvr>
                                        <p:cTn id="35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55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C 0.004 -0.067 -0.046 -0.125 -0.113 -0.129 C -0.177 -0.134 -0.237 -0.089 -0.241 -0.024 C -0.246 0.036 -0.204 0.092 -0.144 0.096 C -0.089 0.099 -0.037 0.062 -0.033 0.006 C -0.029 -0.045 -0.064 -0.093 -0.115 -0.097 C -0.162 -0.1 -0.206 -0.069 -0.209 -0.022 C -0.212 0.02 -0.184 0.061 -0.142 0.063 C -0.104 0.066 -0.068 0.042 -0.065 0.004 C -0.063 -0.03 -0.084 -0.063 -0.117 -0.065 C -0.146 -0.067 -0.175 -0.049 -0.177 -0.02 C -0.179 0.005 -0.164 0.029 -0.14 0.031 C -0.12 0.033 -0.099 0.022 -0.098 0.002 C -0.096 -0.014 -0.104 -0.031 -0.119 -0.033 C -0.131 -0.033 -0.143 -0.029 -0.145 -0.018 C -0.146 -0.011 -0.144 -0.004 -0.138 -0.001 C -0.135 0 -0.133 0 -0.13 -0.001 E" pathEditMode="relative" ptsTypes="">
                                      <p:cBhvr>
                                        <p:cTn id="37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8" grpId="1"/>
      <p:bldP spid="11" grpId="0"/>
      <p:bldP spid="1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Asymmetric cryptography </a:t>
            </a:r>
            <a:br>
              <a:rPr lang="en-GB" dirty="0"/>
            </a:br>
            <a:r>
              <a:rPr lang="en-GB" dirty="0"/>
              <a:t>(with RSA)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Everyone has two keys – public key and private key.</a:t>
            </a:r>
          </a:p>
          <a:p>
            <a:r>
              <a:rPr lang="en-GB" dirty="0"/>
              <a:t>Public key is just that – it is public – share it with everyone.</a:t>
            </a:r>
          </a:p>
          <a:p>
            <a:r>
              <a:rPr lang="en-GB" dirty="0"/>
              <a:t>Private key is just that – it is private – always keep it a secret.</a:t>
            </a:r>
          </a:p>
          <a:p>
            <a:r>
              <a:rPr lang="en-GB" dirty="0"/>
              <a:t>If a message is encoded with Alice’s public key only Alice’s private key can decode it.</a:t>
            </a:r>
          </a:p>
          <a:p>
            <a:r>
              <a:rPr lang="en-GB" dirty="0"/>
              <a:t>If a message is encoded with Alice’s private key only Alice’s public key can decode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74A79-E8F0-4D51-AEEA-41152AC28452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239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has access to which key?</a:t>
            </a:r>
          </a:p>
        </p:txBody>
      </p:sp>
      <p:pic>
        <p:nvPicPr>
          <p:cNvPr id="13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4221088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22965" y="3387714"/>
            <a:ext cx="1186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Alice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0459" y="3395958"/>
            <a:ext cx="1003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Bob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1920" y="5980003"/>
            <a:ext cx="9049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Eve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5908" y="1268760"/>
            <a:ext cx="3286125" cy="1390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51436" y="2750037"/>
            <a:ext cx="2218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Alice private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7246" y="2750037"/>
            <a:ext cx="2106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Bob private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3836" y="2902437"/>
            <a:ext cx="1990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Bob public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5210" y="2935712"/>
            <a:ext cx="1990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Bob public 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3836" y="2909846"/>
            <a:ext cx="1990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Bob public key</a:t>
            </a:r>
          </a:p>
        </p:txBody>
      </p:sp>
    </p:spTree>
    <p:extLst>
      <p:ext uri="{BB962C8B-B14F-4D97-AF65-F5344CB8AC3E}">
        <p14:creationId xmlns:p14="http://schemas.microsoft.com/office/powerpoint/2010/main" val="210228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6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2.96296E-6 L -3.61111E-6 0.07963 C -3.61111E-6 0.11551 -0.08923 0.16018 -0.16163 0.16018 L -0.32274 0.16018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146" y="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7.40741E-7 L 5E-6 0.07894 C 5E-6 0.11435 0.08628 0.1588 0.15626 0.1588 L 0.31233 0.1588 " pathEditMode="relative" rAng="0" ptsTypes="AAAA">
                                      <p:cBhvr>
                                        <p:cTn id="2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08" y="7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2.96296E-6 L -3.88889E-6 0.10463 C -3.88889E-6 0.15209 0.08802 0.21135 0.15938 0.21135 L 0.31858 0.21135 " pathEditMode="relative" rAng="0" ptsTypes="AAAA">
                                      <p:cBhvr>
                                        <p:cTn id="3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20" y="10556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07407E-6 L 1.38889E-6 0.23264 C 1.38889E-6 0.33797 0.02483 0.46899 0.04496 0.46899 L 0.08976 0.46899 " pathEditMode="relative" rAng="0" ptsTypes="AAAA">
                                      <p:cBhvr>
                                        <p:cTn id="3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79" y="2344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3.7037E-7 L -3.88889E-6 0.09907 C -3.88889E-6 0.14375 -0.09704 0.19954 -0.17569 0.19954 L -0.35069 0.19954 " pathEditMode="relative" rAng="0" ptsTypes="AAAA">
                                      <p:cBhvr>
                                        <p:cTn id="3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535" y="9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2"/>
      <p:bldP spid="11" grpId="0"/>
      <p:bldP spid="11" grpId="1"/>
      <p:bldP spid="12" grpId="0"/>
      <p:bldP spid="12" grpId="1"/>
      <p:bldP spid="19" grpId="0"/>
      <p:bldP spid="19" grpId="1"/>
      <p:bldP spid="21" grpId="0"/>
      <p:bldP spid="2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Security basics</a:t>
            </a:r>
          </a:p>
        </p:txBody>
      </p:sp>
      <p:pic>
        <p:nvPicPr>
          <p:cNvPr id="13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540834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22965" y="3387714"/>
            <a:ext cx="1186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Alice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0459" y="3395958"/>
            <a:ext cx="1003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Bob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9952" y="3323516"/>
            <a:ext cx="9049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Eve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40487" y="4437112"/>
            <a:ext cx="82089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For a simple exercise let us assume everyone has public/private keys AND everyone can get any public keys</a:t>
            </a:r>
          </a:p>
        </p:txBody>
      </p:sp>
    </p:spTree>
    <p:extLst>
      <p:ext uri="{BB962C8B-B14F-4D97-AF65-F5344CB8AC3E}">
        <p14:creationId xmlns:p14="http://schemas.microsoft.com/office/powerpoint/2010/main" val="1270487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exercise (paper keys)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61454"/>
            <a:ext cx="8229600" cy="2116831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In this tutorial we are going to work together to simulate many cryptographic processes.</a:t>
            </a:r>
          </a:p>
          <a:p>
            <a:r>
              <a:rPr lang="en-GB" dirty="0"/>
              <a:t>We use a piece of paper to represent the key and another piece of paper to represent a message.</a:t>
            </a:r>
          </a:p>
          <a:p>
            <a:r>
              <a:rPr lang="en-GB" dirty="0"/>
              <a:t>We fold the paper (key) over the message to represent the message being encoded using that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74A79-E8F0-4D51-AEEA-41152AC28452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611560" y="3861048"/>
            <a:ext cx="2304256" cy="2736304"/>
          </a:xfrm>
          <a:prstGeom prst="roundRect">
            <a:avLst>
              <a:gd name="adj" fmla="val 380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GB" sz="2400" dirty="0"/>
              <a:t>ALICE’S PUBLIC KEY</a:t>
            </a:r>
          </a:p>
        </p:txBody>
      </p:sp>
      <p:cxnSp>
        <p:nvCxnSpPr>
          <p:cNvPr id="8" name="Straight Connector 7"/>
          <p:cNvCxnSpPr>
            <a:stCxn id="6" idx="1"/>
            <a:endCxn id="6" idx="3"/>
          </p:cNvCxnSpPr>
          <p:nvPr/>
        </p:nvCxnSpPr>
        <p:spPr>
          <a:xfrm>
            <a:off x="611560" y="5229200"/>
            <a:ext cx="2304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34451" y="3872951"/>
            <a:ext cx="1877437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dk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SECRET MESSAGE</a:t>
            </a:r>
          </a:p>
          <a:p>
            <a:r>
              <a:rPr lang="en-GB" dirty="0"/>
              <a:t>-----------------------</a:t>
            </a:r>
          </a:p>
          <a:p>
            <a:r>
              <a:rPr lang="en-GB" dirty="0"/>
              <a:t>-----------------------</a:t>
            </a:r>
          </a:p>
          <a:p>
            <a:r>
              <a:rPr lang="en-GB" dirty="0"/>
              <a:t>-----------------------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012160" y="3573016"/>
            <a:ext cx="2448272" cy="1589661"/>
            <a:chOff x="6012160" y="3573016"/>
            <a:chExt cx="2448272" cy="1589661"/>
          </a:xfrm>
        </p:grpSpPr>
        <p:sp>
          <p:nvSpPr>
            <p:cNvPr id="13" name="Round Same Side Corner Rectangle 12"/>
            <p:cNvSpPr/>
            <p:nvPr/>
          </p:nvSpPr>
          <p:spPr>
            <a:xfrm>
              <a:off x="6012160" y="3783555"/>
              <a:ext cx="2262331" cy="1379122"/>
            </a:xfrm>
            <a:prstGeom prst="round2SameRect">
              <a:avLst>
                <a:gd name="adj1" fmla="val 7853"/>
                <a:gd name="adj2" fmla="val 0"/>
              </a:avLst>
            </a:prstGeom>
            <a:scene3d>
              <a:camera prst="orthographicFront">
                <a:rot lat="20584386" lon="21063651" rev="186558"/>
              </a:camera>
              <a:lightRig rig="threePt" dir="t"/>
            </a:scene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400">
                <a:solidFill>
                  <a:schemeClr val="dk1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64074" y="3573016"/>
              <a:ext cx="1877437" cy="120032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dk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SECRET MESSAGE</a:t>
              </a:r>
            </a:p>
            <a:p>
              <a:r>
                <a:rPr lang="en-GB" dirty="0"/>
                <a:t>-----------------------</a:t>
              </a:r>
            </a:p>
            <a:p>
              <a:r>
                <a:rPr lang="en-GB" dirty="0"/>
                <a:t>-----------------------</a:t>
              </a:r>
            </a:p>
            <a:p>
              <a:r>
                <a:rPr lang="en-GB" dirty="0"/>
                <a:t>-----------------------</a:t>
              </a:r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6084168" y="3789040"/>
              <a:ext cx="2376264" cy="1368152"/>
            </a:xfrm>
            <a:prstGeom prst="round2SameRect">
              <a:avLst>
                <a:gd name="adj1" fmla="val 7853"/>
                <a:gd name="adj2" fmla="val 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2400" dirty="0">
                  <a:solidFill>
                    <a:schemeClr val="dk1"/>
                  </a:solidFill>
                </a:rPr>
                <a:t>ENCODED WITH ALICE’S</a:t>
              </a:r>
            </a:p>
            <a:p>
              <a:pPr algn="ctr"/>
              <a:r>
                <a:rPr lang="en-GB" sz="2400" dirty="0"/>
                <a:t>PUBLIC KEY</a:t>
              </a:r>
              <a:endParaRPr lang="en-GB" sz="2400" dirty="0">
                <a:solidFill>
                  <a:schemeClr val="dk1"/>
                </a:solidFill>
              </a:endParaRPr>
            </a:p>
          </p:txBody>
        </p:sp>
      </p:grpSp>
      <p:sp>
        <p:nvSpPr>
          <p:cNvPr id="18" name="Content Placeholder 2"/>
          <p:cNvSpPr txBox="1">
            <a:spLocks/>
          </p:cNvSpPr>
          <p:nvPr/>
        </p:nvSpPr>
        <p:spPr>
          <a:xfrm>
            <a:off x="3409528" y="5168163"/>
            <a:ext cx="4978896" cy="1285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can only decode if we have the “matching” key</a:t>
            </a:r>
          </a:p>
          <a:p>
            <a:r>
              <a:rPr lang="en-GB" dirty="0"/>
              <a:t>(In this case Alice’s private key).</a:t>
            </a:r>
          </a:p>
        </p:txBody>
      </p:sp>
    </p:spTree>
    <p:extLst>
      <p:ext uri="{BB962C8B-B14F-4D97-AF65-F5344CB8AC3E}">
        <p14:creationId xmlns:p14="http://schemas.microsoft.com/office/powerpoint/2010/main" val="339457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Basics: Pass a secure message</a:t>
            </a:r>
          </a:p>
        </p:txBody>
      </p:sp>
      <p:pic>
        <p:nvPicPr>
          <p:cNvPr id="13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540834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22965" y="3387714"/>
            <a:ext cx="1186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Alice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0459" y="3395958"/>
            <a:ext cx="1003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Bob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9952" y="3323516"/>
            <a:ext cx="9049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Eve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1560" y="3926629"/>
            <a:ext cx="82089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Alice wants to pass an encrypted message to Bob</a:t>
            </a:r>
          </a:p>
          <a:p>
            <a:r>
              <a:rPr lang="en-GB" sz="3600" dirty="0"/>
              <a:t>Bob wants to pass an encrypted message to Alice</a:t>
            </a:r>
          </a:p>
          <a:p>
            <a:r>
              <a:rPr lang="en-GB" sz="3600" dirty="0"/>
              <a:t>Eve can see all the messages</a:t>
            </a:r>
          </a:p>
        </p:txBody>
      </p:sp>
    </p:spTree>
    <p:extLst>
      <p:ext uri="{BB962C8B-B14F-4D97-AF65-F5344CB8AC3E}">
        <p14:creationId xmlns:p14="http://schemas.microsoft.com/office/powerpoint/2010/main" val="1565394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Basics: Pass a secure message</a:t>
            </a:r>
          </a:p>
        </p:txBody>
      </p:sp>
      <p:pic>
        <p:nvPicPr>
          <p:cNvPr id="13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540834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22965" y="3387714"/>
            <a:ext cx="1186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Alice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0459" y="3395958"/>
            <a:ext cx="1003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Bob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9952" y="3323516"/>
            <a:ext cx="9049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Eve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1560" y="3926629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Alice encodes with Bob’s public key</a:t>
            </a:r>
          </a:p>
          <a:p>
            <a:r>
              <a:rPr lang="en-GB" sz="3600" dirty="0"/>
              <a:t>Bob encodes with Alice’s public key</a:t>
            </a:r>
          </a:p>
          <a:p>
            <a:r>
              <a:rPr lang="en-GB" sz="3600" dirty="0"/>
              <a:t>Eve can see all the messages but cannot decode them</a:t>
            </a:r>
          </a:p>
        </p:txBody>
      </p:sp>
    </p:spTree>
    <p:extLst>
      <p:ext uri="{BB962C8B-B14F-4D97-AF65-F5344CB8AC3E}">
        <p14:creationId xmlns:p14="http://schemas.microsoft.com/office/powerpoint/2010/main" val="1067473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Basics: Prove who you are</a:t>
            </a:r>
          </a:p>
        </p:txBody>
      </p:sp>
      <p:pic>
        <p:nvPicPr>
          <p:cNvPr id="13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540834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22965" y="3387714"/>
            <a:ext cx="1186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Alice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0459" y="3395958"/>
            <a:ext cx="1003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Bob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9952" y="3323516"/>
            <a:ext cx="9049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Eve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1560" y="3926629"/>
            <a:ext cx="82089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Alice wants to send a message to Bob and prove it is her</a:t>
            </a:r>
          </a:p>
          <a:p>
            <a:r>
              <a:rPr lang="en-GB" sz="3600" dirty="0"/>
              <a:t>Bob wants to send a message to Alice and prove it is him</a:t>
            </a:r>
          </a:p>
          <a:p>
            <a:r>
              <a:rPr lang="en-GB" sz="3600" dirty="0"/>
              <a:t>Eve can see all the messages</a:t>
            </a:r>
          </a:p>
        </p:txBody>
      </p:sp>
    </p:spTree>
    <p:extLst>
      <p:ext uri="{BB962C8B-B14F-4D97-AF65-F5344CB8AC3E}">
        <p14:creationId xmlns:p14="http://schemas.microsoft.com/office/powerpoint/2010/main" val="858273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Basics: Prove who you are</a:t>
            </a:r>
          </a:p>
        </p:txBody>
      </p:sp>
      <p:pic>
        <p:nvPicPr>
          <p:cNvPr id="13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540834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22965" y="3387714"/>
            <a:ext cx="1186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Alice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0459" y="3395958"/>
            <a:ext cx="1003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Bob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9952" y="3323516"/>
            <a:ext cx="9049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Eve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1560" y="3926629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Alice encodes with her private key</a:t>
            </a:r>
          </a:p>
          <a:p>
            <a:r>
              <a:rPr lang="en-GB" sz="3600" dirty="0"/>
              <a:t>Bob encodes with his private key</a:t>
            </a:r>
          </a:p>
          <a:p>
            <a:r>
              <a:rPr lang="en-GB" sz="3600" dirty="0"/>
              <a:t>Eve can read all the messages</a:t>
            </a:r>
          </a:p>
          <a:p>
            <a:r>
              <a:rPr lang="en-GB" sz="3600" dirty="0"/>
              <a:t>Bob and Alice know who sent both</a:t>
            </a:r>
          </a:p>
        </p:txBody>
      </p:sp>
    </p:spTree>
    <p:extLst>
      <p:ext uri="{BB962C8B-B14F-4D97-AF65-F5344CB8AC3E}">
        <p14:creationId xmlns:p14="http://schemas.microsoft.com/office/powerpoint/2010/main" val="960786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Basics: A secure message with a known sender</a:t>
            </a:r>
          </a:p>
        </p:txBody>
      </p:sp>
      <p:pic>
        <p:nvPicPr>
          <p:cNvPr id="13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540834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22965" y="3387714"/>
            <a:ext cx="1186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Alice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0459" y="3395958"/>
            <a:ext cx="1003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Bob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9952" y="3323516"/>
            <a:ext cx="9049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Eve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1560" y="3926629"/>
            <a:ext cx="82089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Alice wants to send a SECRET message to Bob and prove it is her</a:t>
            </a:r>
          </a:p>
          <a:p>
            <a:r>
              <a:rPr lang="en-GB" sz="3600" dirty="0"/>
              <a:t>Bob wants to send a SECRET message to Alice and prove it is him</a:t>
            </a:r>
          </a:p>
          <a:p>
            <a:r>
              <a:rPr lang="en-GB" sz="3600" dirty="0"/>
              <a:t>Eve can see all the messages</a:t>
            </a:r>
          </a:p>
        </p:txBody>
      </p:sp>
    </p:spTree>
    <p:extLst>
      <p:ext uri="{BB962C8B-B14F-4D97-AF65-F5344CB8AC3E}">
        <p14:creationId xmlns:p14="http://schemas.microsoft.com/office/powerpoint/2010/main" val="1665523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Basics: A secure message with a known sender</a:t>
            </a:r>
          </a:p>
        </p:txBody>
      </p:sp>
      <p:pic>
        <p:nvPicPr>
          <p:cNvPr id="13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540834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22965" y="3387714"/>
            <a:ext cx="1186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Alice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0459" y="3395958"/>
            <a:ext cx="1003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Bob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9952" y="3323516"/>
            <a:ext cx="9049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Eve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1560" y="3926629"/>
            <a:ext cx="82089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Alice signs with her private key and Bob’s public key</a:t>
            </a:r>
          </a:p>
          <a:p>
            <a:r>
              <a:rPr lang="en-GB" sz="3600" dirty="0"/>
              <a:t>Bob signs with his private key and Alice’s public key</a:t>
            </a:r>
          </a:p>
          <a:p>
            <a:r>
              <a:rPr lang="en-GB" sz="3600" dirty="0"/>
              <a:t>Eve can’t read any messages</a:t>
            </a:r>
          </a:p>
        </p:txBody>
      </p:sp>
    </p:spTree>
    <p:extLst>
      <p:ext uri="{BB962C8B-B14F-4D97-AF65-F5344CB8AC3E}">
        <p14:creationId xmlns:p14="http://schemas.microsoft.com/office/powerpoint/2010/main" val="2657195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Making things more complex</a:t>
            </a:r>
          </a:p>
        </p:txBody>
      </p:sp>
      <p:pic>
        <p:nvPicPr>
          <p:cNvPr id="13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540834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22965" y="3387714"/>
            <a:ext cx="1186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Alice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0459" y="3395958"/>
            <a:ext cx="1003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Bob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9952" y="3323516"/>
            <a:ext cx="9049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Eve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1560" y="3926629"/>
            <a:ext cx="82089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What if Bob and Alice do not have each other’s public keys?</a:t>
            </a:r>
          </a:p>
          <a:p>
            <a:r>
              <a:rPr lang="en-GB" sz="3600" dirty="0"/>
              <a:t>This enables Eve to do a “man-in-the-middle” attack.</a:t>
            </a:r>
          </a:p>
          <a:p>
            <a:r>
              <a:rPr lang="en-GB" sz="3600" dirty="0"/>
              <a:t>(Eve is a woman not a man.)</a:t>
            </a:r>
          </a:p>
        </p:txBody>
      </p:sp>
    </p:spTree>
    <p:extLst>
      <p:ext uri="{BB962C8B-B14F-4D97-AF65-F5344CB8AC3E}">
        <p14:creationId xmlns:p14="http://schemas.microsoft.com/office/powerpoint/2010/main" val="1091540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Man-in-the-Middle</a:t>
            </a:r>
          </a:p>
        </p:txBody>
      </p:sp>
      <p:pic>
        <p:nvPicPr>
          <p:cNvPr id="13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540834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22965" y="3387714"/>
            <a:ext cx="1186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Alice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0459" y="3395958"/>
            <a:ext cx="1003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Bob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9952" y="3323516"/>
            <a:ext cx="9049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Eve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1560" y="3926629"/>
            <a:ext cx="82089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Alice sends Bob her public key </a:t>
            </a:r>
          </a:p>
          <a:p>
            <a:r>
              <a:rPr lang="en-GB" sz="3600" dirty="0"/>
              <a:t>Bob encodes a secret message and sends it to Alice</a:t>
            </a:r>
          </a:p>
          <a:p>
            <a:r>
              <a:rPr lang="en-GB" sz="3600" dirty="0"/>
              <a:t>(First let us see this work without interference from Eve).</a:t>
            </a:r>
          </a:p>
        </p:txBody>
      </p:sp>
    </p:spTree>
    <p:extLst>
      <p:ext uri="{BB962C8B-B14F-4D97-AF65-F5344CB8AC3E}">
        <p14:creationId xmlns:p14="http://schemas.microsoft.com/office/powerpoint/2010/main" val="1851043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Man-in-the-Middle</a:t>
            </a:r>
          </a:p>
        </p:txBody>
      </p:sp>
      <p:pic>
        <p:nvPicPr>
          <p:cNvPr id="13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540834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22965" y="3387714"/>
            <a:ext cx="1186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Alice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0459" y="3395958"/>
            <a:ext cx="1003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Bob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9952" y="3323516"/>
            <a:ext cx="9049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Eve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1560" y="3933056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Alice sends Bob her public key </a:t>
            </a:r>
          </a:p>
          <a:p>
            <a:r>
              <a:rPr lang="en-GB" sz="3600" dirty="0"/>
              <a:t>Bob encodes a secret message and sends it to Alice</a:t>
            </a:r>
          </a:p>
          <a:p>
            <a:r>
              <a:rPr lang="en-GB" sz="3600" dirty="0"/>
              <a:t>Let us see how Eve can disrupt this process</a:t>
            </a:r>
          </a:p>
        </p:txBody>
      </p:sp>
    </p:spTree>
    <p:extLst>
      <p:ext uri="{BB962C8B-B14F-4D97-AF65-F5344CB8AC3E}">
        <p14:creationId xmlns:p14="http://schemas.microsoft.com/office/powerpoint/2010/main" val="1348486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885" y="116632"/>
            <a:ext cx="8229600" cy="1143000"/>
          </a:xfrm>
        </p:spPr>
        <p:txBody>
          <a:bodyPr/>
          <a:lstStyle/>
          <a:p>
            <a:r>
              <a:rPr lang="en-GB" dirty="0"/>
              <a:t>Man-in-the-middle attack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74A79-E8F0-4D51-AEEA-41152AC28452}" type="slidenum">
              <a:rPr lang="en-GB" smtClean="0"/>
              <a:pPr/>
              <a:t>16</a:t>
            </a:fld>
            <a:endParaRPr lang="en-GB"/>
          </a:p>
        </p:txBody>
      </p:sp>
      <p:pic>
        <p:nvPicPr>
          <p:cNvPr id="5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88455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02885" y="3347370"/>
            <a:ext cx="1186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Alice</a:t>
            </a:r>
          </a:p>
        </p:txBody>
      </p:sp>
      <p:pic>
        <p:nvPicPr>
          <p:cNvPr id="7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628799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310459" y="3395958"/>
            <a:ext cx="1003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Bob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835696" y="2408324"/>
            <a:ext cx="1872208" cy="0"/>
          </a:xfrm>
          <a:prstGeom prst="straightConnector1">
            <a:avLst/>
          </a:prstGeom>
          <a:ln w="635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644372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3767471" y="3458054"/>
            <a:ext cx="9049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7161" y="1044207"/>
            <a:ext cx="24047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Here’s my public  key – Alice</a:t>
            </a:r>
          </a:p>
          <a:p>
            <a:r>
              <a:rPr lang="en-GB" sz="2400" dirty="0"/>
              <a:t>(Attach: Alice key)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5220072" y="2385505"/>
            <a:ext cx="1872208" cy="0"/>
          </a:xfrm>
          <a:prstGeom prst="straightConnector1">
            <a:avLst/>
          </a:prstGeom>
          <a:ln w="635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905742" y="1044207"/>
            <a:ext cx="24047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Here’s my public  </a:t>
            </a:r>
            <a:r>
              <a:rPr lang="en-GB" sz="2400"/>
              <a:t>key – Alice</a:t>
            </a:r>
            <a:endParaRPr lang="en-GB" sz="2400" dirty="0"/>
          </a:p>
          <a:p>
            <a:r>
              <a:rPr lang="en-GB" sz="2400" dirty="0"/>
              <a:t>(Attach: Eve key)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H="1" flipV="1">
            <a:off x="5220072" y="2924945"/>
            <a:ext cx="1736576" cy="1"/>
          </a:xfrm>
          <a:prstGeom prst="straightConnector1">
            <a:avLst/>
          </a:prstGeom>
          <a:ln w="635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871508" y="3101148"/>
            <a:ext cx="24047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Message to Alice</a:t>
            </a:r>
          </a:p>
          <a:p>
            <a:pPr algn="ctr"/>
            <a:r>
              <a:rPr lang="en-GB" sz="2400" dirty="0"/>
              <a:t>encrypted with Eve’s key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H="1" flipV="1">
            <a:off x="1835696" y="2924944"/>
            <a:ext cx="1736576" cy="1"/>
          </a:xfrm>
          <a:prstGeom prst="straightConnector1">
            <a:avLst/>
          </a:prstGeom>
          <a:ln w="635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487132" y="3101147"/>
            <a:ext cx="24047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Message to Alice</a:t>
            </a:r>
          </a:p>
          <a:p>
            <a:pPr algn="ctr"/>
            <a:r>
              <a:rPr lang="en-GB" sz="2400" dirty="0"/>
              <a:t>encrypted with Alice’s key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idx="1"/>
          </p:nvPr>
        </p:nvSpPr>
        <p:spPr>
          <a:xfrm>
            <a:off x="313184" y="4437112"/>
            <a:ext cx="8229600" cy="209290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If Eve can sit between Alice and Bob in the network she can intercept the key.</a:t>
            </a:r>
          </a:p>
          <a:p>
            <a:r>
              <a:rPr lang="en-GB" dirty="0"/>
              <a:t>Bob thinks he is sending securely to Alice but Eve can read message or change it.</a:t>
            </a:r>
          </a:p>
        </p:txBody>
      </p:sp>
    </p:spTree>
    <p:extLst>
      <p:ext uri="{BB962C8B-B14F-4D97-AF65-F5344CB8AC3E}">
        <p14:creationId xmlns:p14="http://schemas.microsoft.com/office/powerpoint/2010/main" val="206772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27" grpId="0"/>
      <p:bldP spid="29" grpId="0"/>
      <p:bldP spid="30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How do we stop “man-in-the-middle”?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core problem is that Bob does not have a “trusted” public key from Alice.</a:t>
            </a:r>
          </a:p>
          <a:p>
            <a:r>
              <a:rPr lang="en-GB" dirty="0"/>
              <a:t>Bob needs to know that Alice’s public key is correct.</a:t>
            </a:r>
          </a:p>
          <a:p>
            <a:r>
              <a:rPr lang="en-GB" dirty="0"/>
              <a:t>We use “trusted” authorities (Certificate Authorities) to “sign” a certificate (X.509).</a:t>
            </a:r>
          </a:p>
          <a:p>
            <a:r>
              <a:rPr lang="en-GB" dirty="0"/>
              <a:t>This is covered in the Security and </a:t>
            </a:r>
            <a:r>
              <a:rPr lang="en-GB"/>
              <a:t>Authentication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74A79-E8F0-4D51-AEEA-41152AC28452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247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Thanks for playing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Remember the basic rules.</a:t>
            </a:r>
          </a:p>
          <a:p>
            <a:r>
              <a:rPr lang="en-GB" dirty="0"/>
              <a:t>Private key is always private.  </a:t>
            </a:r>
          </a:p>
          <a:p>
            <a:r>
              <a:rPr lang="en-GB" dirty="0"/>
              <a:t>Private key decodes public key  (using RSA).</a:t>
            </a:r>
          </a:p>
          <a:p>
            <a:r>
              <a:rPr lang="en-GB" dirty="0"/>
              <a:t>Public key decodes private key  (using RSA).</a:t>
            </a:r>
          </a:p>
          <a:p>
            <a:r>
              <a:rPr lang="en-GB" dirty="0"/>
              <a:t>If we can decode with a public key we know it was encoded with a private key.</a:t>
            </a:r>
          </a:p>
          <a:p>
            <a:r>
              <a:rPr lang="en-GB" dirty="0"/>
              <a:t>Revise </a:t>
            </a:r>
            <a:r>
              <a:rPr lang="en-GB" dirty="0" err="1"/>
              <a:t>revise</a:t>
            </a:r>
            <a:r>
              <a:rPr lang="en-GB" dirty="0"/>
              <a:t> </a:t>
            </a:r>
            <a:r>
              <a:rPr lang="en-GB" dirty="0" err="1"/>
              <a:t>revise</a:t>
            </a:r>
            <a:r>
              <a:rPr lang="en-GB" dirty="0"/>
              <a:t>!  You need to know about all these </a:t>
            </a:r>
            <a:r>
              <a:rPr lang="en-GB" dirty="0" err="1"/>
              <a:t>techiques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74A79-E8F0-4D51-AEEA-41152AC28452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015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Basics: Full digital signing</a:t>
            </a:r>
          </a:p>
        </p:txBody>
      </p:sp>
      <p:pic>
        <p:nvPicPr>
          <p:cNvPr id="13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5" y="1221113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221114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1221114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81201" y="3159065"/>
            <a:ext cx="1186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Alice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0458" y="3165000"/>
            <a:ext cx="1003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Bob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9504" y="3099386"/>
            <a:ext cx="9049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Eve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1560" y="3926629"/>
            <a:ext cx="82089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Real “signing” involves more than simply encoding with a private key.</a:t>
            </a:r>
          </a:p>
          <a:p>
            <a:r>
              <a:rPr lang="en-GB" sz="3600" dirty="0"/>
              <a:t>There is another step involving the “message digest” (hash) – shorter version of message. </a:t>
            </a:r>
          </a:p>
        </p:txBody>
      </p:sp>
    </p:spTree>
    <p:extLst>
      <p:ext uri="{BB962C8B-B14F-4D97-AF65-F5344CB8AC3E}">
        <p14:creationId xmlns:p14="http://schemas.microsoft.com/office/powerpoint/2010/main" val="2748496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Basics: Full digital signing</a:t>
            </a:r>
          </a:p>
        </p:txBody>
      </p:sp>
      <p:pic>
        <p:nvPicPr>
          <p:cNvPr id="13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5" y="1221113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221114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Richard G. Clegg\AppData\Local\Microsoft\Windows\INetCache\IE\95MWXZJ5\user-icon--16121-large[1]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1221114"/>
            <a:ext cx="1152128" cy="17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81201" y="3159065"/>
            <a:ext cx="1186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Alice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0458" y="3165000"/>
            <a:ext cx="1003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Bob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9504" y="3099386"/>
            <a:ext cx="9049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Eve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51520" y="3926629"/>
            <a:ext cx="856895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To sign a message Alice creates a short “message hash”.  This message hash is encoded with Alice’s private key.</a:t>
            </a:r>
          </a:p>
          <a:p>
            <a:r>
              <a:rPr lang="en-GB" sz="3200" dirty="0"/>
              <a:t>Bob checks by creating a message hash and comparing with decoding using Alice’s public key.</a:t>
            </a:r>
          </a:p>
        </p:txBody>
      </p:sp>
    </p:spTree>
    <p:extLst>
      <p:ext uri="{BB962C8B-B14F-4D97-AF65-F5344CB8AC3E}">
        <p14:creationId xmlns:p14="http://schemas.microsoft.com/office/powerpoint/2010/main" val="2639719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1031</Words>
  <Application>Microsoft Office PowerPoint</Application>
  <PresentationFormat>On-screen Show (4:3)</PresentationFormat>
  <Paragraphs>164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Public/Private Key Cryptography Tutorial</vt:lpstr>
      <vt:lpstr>Different cryptography techniques</vt:lpstr>
      <vt:lpstr>Asymmetric cryptography  (with RSA) basics</vt:lpstr>
      <vt:lpstr>Who has access to which key?</vt:lpstr>
      <vt:lpstr>Security basics</vt:lpstr>
      <vt:lpstr>This exercise (paper keys)</vt:lpstr>
      <vt:lpstr>Basics: Pass a secure message</vt:lpstr>
      <vt:lpstr>Basics: Pass a secure message</vt:lpstr>
      <vt:lpstr>Basics: Prove who you are</vt:lpstr>
      <vt:lpstr>Basics: Prove who you are</vt:lpstr>
      <vt:lpstr>Basics: A secure message with a known sender</vt:lpstr>
      <vt:lpstr>Basics: A secure message with a known sender</vt:lpstr>
      <vt:lpstr>Making things more complex</vt:lpstr>
      <vt:lpstr>Man-in-the-Middle</vt:lpstr>
      <vt:lpstr>Man-in-the-Middle</vt:lpstr>
      <vt:lpstr>Man-in-the-middle attack</vt:lpstr>
      <vt:lpstr>How do we stop “man-in-the-middle”?</vt:lpstr>
      <vt:lpstr>Thanks for playing</vt:lpstr>
      <vt:lpstr>Basics: Full digital signing</vt:lpstr>
      <vt:lpstr>Basics: Full digital signing</vt:lpstr>
    </vt:vector>
  </TitlesOfParts>
  <Company>QMUL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Restful APIs continued: JSONP</dc:title>
  <dc:creator>karens</dc:creator>
  <cp:lastModifiedBy>Richard Clegg</cp:lastModifiedBy>
  <cp:revision>77</cp:revision>
  <cp:lastPrinted>2018-10-11T13:41:03Z</cp:lastPrinted>
  <dcterms:created xsi:type="dcterms:W3CDTF">2015-07-20T15:32:16Z</dcterms:created>
  <dcterms:modified xsi:type="dcterms:W3CDTF">2026-02-16T15:31:48Z</dcterms:modified>
</cp:coreProperties>
</file>